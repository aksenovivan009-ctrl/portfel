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60e6215c68e42e9" /><Relationship Type="http://schemas.openxmlformats.org/officeDocument/2006/relationships/extended-properties" Target="/docProps/app.xml" Id="R2d50e47e36284dc5" /><Relationship Type="http://schemas.openxmlformats.org/officeDocument/2006/relationships/officeDocument" Target="/ppt/presentation.xml" Id="Rfabf24795d2e4dc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84f2f81d15945ef"/>
  </p:sldMasterIdLst>
  <p:notesMasterIdLst>
    <p:notesMasterId xmlns:r="http://schemas.openxmlformats.org/officeDocument/2006/relationships" r:id="R1b2a4c7caf1c4cb8"/>
  </p:notesMasterIdLst>
  <p:sldIdLst>
    <p:sldId xmlns:r="http://schemas.openxmlformats.org/officeDocument/2006/relationships" id="256" r:id="Rbb49383ab0624ead"/>
    <p:sldId xmlns:r="http://schemas.openxmlformats.org/officeDocument/2006/relationships" id="257" r:id="R91074a39c43a452e"/>
    <p:sldId xmlns:r="http://schemas.openxmlformats.org/officeDocument/2006/relationships" id="258" r:id="Rc8637ce529634b4e"/>
    <p:sldId xmlns:r="http://schemas.openxmlformats.org/officeDocument/2006/relationships" id="259" r:id="Ra70dfac10d294b53"/>
    <p:sldId xmlns:r="http://schemas.openxmlformats.org/officeDocument/2006/relationships" id="260" r:id="R7073b982a52f412f"/>
    <p:sldId xmlns:r="http://schemas.openxmlformats.org/officeDocument/2006/relationships" id="261" r:id="Rcea841919a1f4ef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4f2f81d15945ef" /><Relationship Type="http://schemas.openxmlformats.org/officeDocument/2006/relationships/theme" Target="/ppt/theme/theme1.xml" Id="R823bf78dca054fea" /><Relationship Type="http://schemas.openxmlformats.org/officeDocument/2006/relationships/notesMaster" Target="/ppt/notesMasters/notesMaster1.xml" Id="R1b2a4c7caf1c4cb8" /><Relationship Type="http://schemas.openxmlformats.org/officeDocument/2006/relationships/presProps" Target="/ppt/presProps.xml" Id="R40df137c249f4fb3" /><Relationship Type="http://schemas.openxmlformats.org/officeDocument/2006/relationships/viewProps" Target="/ppt/viewProps.xml" Id="R55cc8eab2cdd4eed" /><Relationship Type="http://schemas.openxmlformats.org/officeDocument/2006/relationships/tableStyles" Target="/ppt/tableStyles.xml" Id="R02de2b4878634a19" /><Relationship Type="http://schemas.openxmlformats.org/officeDocument/2006/relationships/slide" Target="/ppt/slides/slide1.xml" Id="Rbb49383ab0624ead" /><Relationship Type="http://schemas.openxmlformats.org/officeDocument/2006/relationships/slide" Target="/ppt/slides/slide2.xml" Id="R91074a39c43a452e" /><Relationship Type="http://schemas.openxmlformats.org/officeDocument/2006/relationships/slide" Target="/ppt/slides/slide3.xml" Id="Rc8637ce529634b4e" /><Relationship Type="http://schemas.openxmlformats.org/officeDocument/2006/relationships/slide" Target="/ppt/slides/slide4.xml" Id="Ra70dfac10d294b53" /><Relationship Type="http://schemas.openxmlformats.org/officeDocument/2006/relationships/slide" Target="/ppt/slides/slide5.xml" Id="R7073b982a52f412f" /><Relationship Type="http://schemas.openxmlformats.org/officeDocument/2006/relationships/slide" Target="/ppt/slides/slide6.xml" Id="Rcea841919a1f4ef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a934e0052f9455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a0a9afa6594ab7" /><Relationship Type="http://schemas.openxmlformats.org/officeDocument/2006/relationships/notesMaster" Target="/ppt/notesMasters/notesMaster1.xml" Id="R47fcd021464d43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04bdc77974d47f7" /><Relationship Type="http://schemas.openxmlformats.org/officeDocument/2006/relationships/notesMaster" Target="/ppt/notesMasters/notesMaster1.xml" Id="R164cc6dfa7884ed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3dec494eb5c4eb6" /><Relationship Type="http://schemas.openxmlformats.org/officeDocument/2006/relationships/notesMaster" Target="/ppt/notesMasters/notesMaster1.xml" Id="Rb650f60dc1574e9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4ccf27fb45a4840" /><Relationship Type="http://schemas.openxmlformats.org/officeDocument/2006/relationships/notesMaster" Target="/ppt/notesMasters/notesMaster1.xml" Id="R883b7642564c4c0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99a6b5281cc4e08" /><Relationship Type="http://schemas.openxmlformats.org/officeDocument/2006/relationships/notesMaster" Target="/ppt/notesMasters/notesMaster1.xml" Id="R33edb2e028974b9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2e967d48522478d" /><Relationship Type="http://schemas.openxmlformats.org/officeDocument/2006/relationships/notesMaster" Target="/ppt/notesMasters/notesMaster1.xml" Id="Rdbabf956f09f47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7cf010177c4eea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29127ae56104e7b" /><Relationship Type="http://schemas.openxmlformats.org/officeDocument/2006/relationships/slideLayout" Target="/ppt/slideLayouts/slideLayout2.xml" Id="Rf196f14259d3413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96f14259d3413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dfc0206f764414a" /><Relationship Type="http://schemas.openxmlformats.org/officeDocument/2006/relationships/notesSlide" Target="/ppt/notesSlides/notesSlide1.xml" Id="R06aaa16c5fdf478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7aae94e20742bc" /><Relationship Type="http://schemas.openxmlformats.org/officeDocument/2006/relationships/notesSlide" Target="/ppt/notesSlides/notesSlide2.xml" Id="R4d07874fb38c40a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72309dec7e74efb" /><Relationship Type="http://schemas.openxmlformats.org/officeDocument/2006/relationships/notesSlide" Target="/ppt/notesSlides/notesSlide3.xml" Id="Rc65d22e19fa84e4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1b8a4155ec34c52" /><Relationship Type="http://schemas.openxmlformats.org/officeDocument/2006/relationships/notesSlide" Target="/ppt/notesSlides/notesSlide4.xml" Id="R455f82fa8c1748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3ea48af3b64881" /><Relationship Type="http://schemas.openxmlformats.org/officeDocument/2006/relationships/notesSlide" Target="/ppt/notesSlides/notesSlide5.xml" Id="Rdc149e412f8a4f0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c0e05e5e5eb4820" /><Relationship Type="http://schemas.openxmlformats.org/officeDocument/2006/relationships/notesSlide" Target="/ppt/notesSlides/notesSlide6.xml" Id="Rea7d51397b11493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45DE48-86B0-4347-B2A9-DA093C84B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1-marker">
            <a:extLst xmlns:a="http://schemas.openxmlformats.org/drawingml/2006/main">
              <a:ext uri="{FF2B5EF4-FFF2-40B4-BE49-F238E27FC236}">
                <a16:creationId xmlns:a16="http://schemas.microsoft.com/office/drawing/2014/main" id="{8EE1ABCB-D54F-401E-99E5-2E3E9F8E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1-label">
            <a:extLst xmlns:a="http://schemas.openxmlformats.org/drawingml/2006/main">
              <a:ext uri="{FF2B5EF4-FFF2-40B4-BE49-F238E27FC236}">
                <a16:creationId xmlns:a16="http://schemas.microsoft.com/office/drawing/2014/main" id="{E6441460-3D92-45BC-9C4A-89C09AB70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3375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НОВЫЙ ПОРТФЕЛЬ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18EF58-26B1-454A-8691-A0DDB9D1E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7239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7211D"/>
                </a:solidFill>
                <a:latin typeface="Aptos Display"/>
                <a:ea typeface="Aptos Display"/>
                <a:cs typeface="Aptos Display"/>
              </a:defRPr>
            </a:pPr>
            <a:r>
              <a:rPr sz="4650" b="1">
                <a:solidFill>
                  <a:srgbClr val="17211D"/>
                </a:solidFill>
                <a:latin typeface="Aptos Display"/>
                <a:ea typeface="Aptos Display"/>
                <a:cs typeface="Aptos Display"/>
              </a:rPr>
              <a:t>Инвестиционный</a:t>
            </a:r>
          </a:p>
          <a:p xmlns:a="http://schemas.openxmlformats.org/drawingml/2006/main">
            <a:pPr algn="l">
              <a:defRPr sz="4650" b="1">
                <a:solidFill>
                  <a:srgbClr val="17211D"/>
                </a:solidFill>
                <a:latin typeface="Aptos Display"/>
                <a:ea typeface="Aptos Display"/>
                <a:cs typeface="Aptos Display"/>
              </a:defRPr>
            </a:pPr>
            <a:r>
              <a:rPr sz="4650" b="1">
                <a:solidFill>
                  <a:srgbClr val="17211D"/>
                </a:solidFill>
                <a:latin typeface="Aptos Display"/>
                <a:ea typeface="Aptos Display"/>
                <a:cs typeface="Aptos Display"/>
              </a:rPr>
              <a:t>портфель 2.0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784C04-CBF8-49D4-BC5D-1EC109D5B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4320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6736D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66736D"/>
                </a:solidFill>
                <a:latin typeface="Aptos"/>
                <a:ea typeface="Aptos"/>
                <a:cs typeface="Aptos"/>
              </a:rPr>
              <a:t>12 акций, без кэша и российских бумаг: цель — доходность выше 10% при риске около 15%.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1B3BAA-CF97-4F4C-A2AE-62C127141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2667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D50851-2ECC-4EE7-9590-D594FBAB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571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8467B1-3A0D-442A-B794-3B6E02A1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0530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3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6736D"/>
                </a:solidFill>
                <a:latin typeface="Aptos"/>
                <a:ea typeface="Aptos"/>
                <a:cs typeface="Aptos"/>
              </a:rPr>
              <a:t>Доходность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6F9E0A-E980-499A-BB18-62B292BDD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9105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10,28%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5C7790-2AE6-4258-9CC2-0E88E7628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054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3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36D"/>
                </a:solidFill>
                <a:latin typeface="Aptos"/>
                <a:ea typeface="Aptos"/>
                <a:cs typeface="Aptos"/>
              </a:rPr>
              <a:t>модельно за 3 месяца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FCE904-B78C-448D-BBDF-2ED52BC56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095750"/>
            <a:ext cx="2667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D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9A0D38-7729-4424-945A-94B8EFEB7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095750"/>
            <a:ext cx="571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9702FE-5A0A-47A1-8D57-3DAEA1D94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30530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3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6736D"/>
                </a:solidFill>
                <a:latin typeface="Aptos"/>
                <a:ea typeface="Aptos"/>
                <a:cs typeface="Aptos"/>
              </a:rPr>
              <a:t>Риск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902A0D-944E-4299-991F-3331589CF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59105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15,03%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4E9003-8E08-45D5-96F5-EDB49681F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1054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3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36D"/>
                </a:solidFill>
                <a:latin typeface="Aptos"/>
                <a:ea typeface="Aptos"/>
                <a:cs typeface="Aptos"/>
              </a:rPr>
              <a:t>почти целевой уровень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3B1C9F-A3C9-4BF0-98DA-92878767D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95750"/>
            <a:ext cx="2667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D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A07F54-616D-46F6-89B2-C97FB73A9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95750"/>
            <a:ext cx="571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6A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5A7C68-A589-4701-A67D-564B9561A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30530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3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6736D"/>
                </a:solidFill>
                <a:latin typeface="Aptos"/>
                <a:ea typeface="Aptos"/>
                <a:cs typeface="Aptos"/>
              </a:rPr>
              <a:t>Активов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DE31F0-3CB6-454F-B7A5-8140FDFAB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59105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0D07E7-0B06-4197-B8EA-B5AF69DC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1054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3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36D"/>
                </a:solidFill>
                <a:latin typeface="Aptos"/>
                <a:ea typeface="Aptos"/>
                <a:cs typeface="Aptos"/>
              </a:rPr>
              <a:t>100% в акциях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D40282-0809-41FC-BB72-AC5940F2B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143000"/>
            <a:ext cx="16192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CB7E71-97FA-48D4-B079-6FD9CC48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44780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Формула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CAE0E8-3FB5-485E-83F4-496AB79A7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000250"/>
            <a:ext cx="11239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Рост дают MSFT, GOOGL, AVGO и NVDA. Риск удерживают Visa, Costco, Berkshire, JNJ, PG и KO.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1FE4FF-8139-49C0-9A7E-C441CBABD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400550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5D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DE5DE"/>
                </a:solidFill>
                <a:latin typeface="Aptos"/>
                <a:ea typeface="Aptos"/>
                <a:cs typeface="Aptos"/>
              </a:rPr>
              <a:t>R=10.28%, σ=15.03%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03357E-1C57-4B52-8A16-7D60B7EEA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671A09-01B8-4E02-817C-8F5B51F46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04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D"/>
                </a:solidFill>
                <a:latin typeface="Aptos"/>
                <a:ea typeface="Aptos"/>
                <a:cs typeface="Aptos"/>
              </a:rPr>
              <a:t>Новый портфель: модельные ожидания доходности и риска за 3 месяца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29B5CD-2F53-4FD2-BBF4-D1DC9C26F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29375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3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36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4251499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EDC847-E24F-41C7-9ADA-C72DF2D08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2-marker">
            <a:extLst xmlns:a="http://schemas.openxmlformats.org/drawingml/2006/main">
              <a:ext uri="{FF2B5EF4-FFF2-40B4-BE49-F238E27FC236}">
                <a16:creationId xmlns:a16="http://schemas.microsoft.com/office/drawing/2014/main" id="{4EA1F654-765A-4523-B3DE-FA5932D9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2-label">
            <a:extLst xmlns:a="http://schemas.openxmlformats.org/drawingml/2006/main">
              <a:ext uri="{FF2B5EF4-FFF2-40B4-BE49-F238E27FC236}">
                <a16:creationId xmlns:a16="http://schemas.microsoft.com/office/drawing/2014/main" id="{0D2111D6-B2BC-4281-9C0C-0A622A780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3375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ВЕСА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538F71-A796-48E5-9280-DBD7B437F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715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11D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7211D"/>
                </a:solidFill>
                <a:latin typeface="Aptos Display"/>
                <a:ea typeface="Aptos Display"/>
                <a:cs typeface="Aptos Display"/>
              </a:rPr>
              <a:t>Бюджет распределён не поровну: больше туда, где выше качество риска.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F7B0F9-5BE5-4E64-B36B-26283077D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71675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Microsoft (MSFT)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A70F52-2649-4F53-869F-52DFA9DE7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00250"/>
            <a:ext cx="6191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25DD96-BE2E-4A1E-93A4-10BD815DC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00250"/>
            <a:ext cx="6191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4A993C-33CF-4320-B94D-7D7EE4407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96215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18%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E2D76D-B2A7-4638-90BE-2FBBABBCA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95525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Alphabet (GOOGL)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9E8239-93BE-4CA8-A6D8-D3FFA9856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24100"/>
            <a:ext cx="6191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B74EC5-A49F-4224-9B5C-FB7EC2485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24100"/>
            <a:ext cx="4815417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3FD3AD-B617-4A17-A6D5-372819918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2860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14%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1AB0DE-F38D-4684-9F93-ABDD5B9E1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19375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Broadcom (AVGO)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43C2DB-18A1-4A0C-8074-C411481B8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47950"/>
            <a:ext cx="6191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C0AF19-7174-4298-B096-13A54E107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47950"/>
            <a:ext cx="343958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7634EC-5B89-4243-AF00-F410608C9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60985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DA9CA9-E3DB-4770-B365-742FFC54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43225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Visa (V)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DA4E72-0BEA-4C9F-A553-8741DBE66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971800"/>
            <a:ext cx="6191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35B8DA-7F0C-4E58-BCC5-3CD5F6B96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971800"/>
            <a:ext cx="343958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B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69648B-553D-43E5-9FED-146D52322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337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CAF8BE-4B6B-4644-BB52-1C1B72D32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67075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Costco (COST)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8F6C27-CE5A-4857-A895-598A76D25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95650"/>
            <a:ext cx="6191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8BE9B1-F498-4224-8914-35187F48A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95650"/>
            <a:ext cx="30956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7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940438-B96E-4E8F-A0A9-7CC7B324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25755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9%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C3C798-A0AE-4711-9C2C-0E607D526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NVIDIA (NVDA)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88B372-4106-4D0E-955F-B7CDC8F5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19500"/>
            <a:ext cx="6191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106E60-ADBF-4986-A31B-7D1219EA9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19500"/>
            <a:ext cx="2751667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406674-A3B8-462A-B2B2-DC3E26271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814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8%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5546CB-A4A2-4CD5-AB8B-55D690F02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14775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Berkshire (BRK.B)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C8720A-EBE1-4AF9-A4C4-86FC01A2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943350"/>
            <a:ext cx="6191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32B17D-B5C1-4DFB-921F-13310F40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943350"/>
            <a:ext cx="2751667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7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AEF2AF-0CB8-43D6-9F19-518347548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90525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8%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0EB093-EA21-4071-AB54-172B624E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38625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Johnson &amp; Johnson (JNJ)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8B455F6-5396-4DA1-B01F-E11F9646D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267200"/>
            <a:ext cx="6191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840DA35-B0E1-40F2-9544-998C174D4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267200"/>
            <a:ext cx="2407708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B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42F1E91-6622-4318-9013-6D8494DD8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2291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7%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0899973-B3C5-4694-9923-71F84D0DC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62475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Procter &amp; Gamble (PG)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0D3A304-1671-4E66-932D-EE9944486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591050"/>
            <a:ext cx="6191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A2F39AD-7527-49A6-A387-0489D8F28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591050"/>
            <a:ext cx="2063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7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21D35F1-12FB-413C-A23B-38D070C0C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55295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6%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35FD27A-CEBF-4A39-A5A7-5864377A8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86325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Coca-Cola (KO)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E6D9BF4-D9E2-41BB-8637-9C445F00C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14900"/>
            <a:ext cx="6191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039F763-CF1A-4996-A3CC-6708B41C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14900"/>
            <a:ext cx="1719792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7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BC613AF-1921-4360-A9CF-9C0053F39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8768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5%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3109051-3946-4473-B93B-04E355A6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10175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JPMorgan (JPM)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B034F88-3F69-40A7-BAE7-71C10855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238750"/>
            <a:ext cx="6191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A3A1012-CDE2-4FF9-BC79-A4A130471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238750"/>
            <a:ext cx="10318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B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62BF856-3F25-4BEA-8B6B-93C674812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3%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37948E4-26F0-45FE-99D5-1C87CD06A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34025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Exxon Mobil (XOM)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C01BC24-7456-4D28-8B4D-FF4810578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562600"/>
            <a:ext cx="6191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BB2B053-7933-47F6-9806-B23DA17E0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562600"/>
            <a:ext cx="687917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6A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EEEFD94-B1B8-4FBE-A3BC-C5AFDE1AA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5245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2%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14E9684-C36D-4D79-87B7-1CB271CAF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10250"/>
            <a:ext cx="9525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36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6736D"/>
                </a:solidFill>
                <a:latin typeface="Aptos"/>
                <a:ea typeface="Aptos"/>
                <a:cs typeface="Aptos"/>
              </a:rPr>
              <a:t>Самые крупные доли: Microsoft 18%, Alphabet 14%, Broadcom и Visa по 10%. NVIDIA ограничена 8%, чтобы не перегрузить портфель риском.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FC431A6-7B0A-4B9C-BED7-9FF63A8A1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B15C93A-6AB0-44E3-A205-18BE3BCCD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04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D"/>
                </a:solidFill>
                <a:latin typeface="Aptos"/>
                <a:ea typeface="Aptos"/>
                <a:cs typeface="Aptos"/>
              </a:rPr>
              <a:t>Новый портфель: модельные ожидания доходности и риска за 3 месяца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FC37047-F763-4B04-AAEF-A9C5E867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29375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3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36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6320097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AADAD6-4544-477A-86B4-63F37629B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3-marker">
            <a:extLst xmlns:a="http://schemas.openxmlformats.org/drawingml/2006/main">
              <a:ext uri="{FF2B5EF4-FFF2-40B4-BE49-F238E27FC236}">
                <a16:creationId xmlns:a16="http://schemas.microsoft.com/office/drawing/2014/main" id="{101D3C0C-3015-4198-AF6F-C1C064C1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3-label">
            <a:extLst xmlns:a="http://schemas.openxmlformats.org/drawingml/2006/main">
              <a:ext uri="{FF2B5EF4-FFF2-40B4-BE49-F238E27FC236}">
                <a16:creationId xmlns:a16="http://schemas.microsoft.com/office/drawing/2014/main" id="{D30420AD-795A-450B-BC52-1CAE1860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3375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АРХИТЕКТУРА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9445EB-7F3D-49F4-A7B7-59C13AD73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715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11D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7211D"/>
                </a:solidFill>
                <a:latin typeface="Aptos Display"/>
                <a:ea typeface="Aptos Display"/>
                <a:cs typeface="Aptos Display"/>
              </a:rPr>
              <a:t>Портфель построен как барбелл: рост сверху, защита снизу.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456B8C-CA47-475D-A7AF-9D11DEB8D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66950"/>
            <a:ext cx="2857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D41C37-4411-4E5B-B8DF-F7EFB8632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66950"/>
            <a:ext cx="571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6F5DC0-D177-48E1-A8DF-BFEA84C70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765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3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6736D"/>
                </a:solidFill>
                <a:latin typeface="Aptos"/>
                <a:ea typeface="Aptos"/>
                <a:cs typeface="Aptos"/>
              </a:rPr>
              <a:t>Качественный рост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92C25C-B573-4B85-8506-0EDB356D5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622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32%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3C27AA-F55E-48B2-A618-47489A425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3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36D"/>
                </a:solidFill>
                <a:latin typeface="Aptos"/>
                <a:ea typeface="Aptos"/>
                <a:cs typeface="Aptos"/>
              </a:rPr>
              <a:t>MSFT + GOOGL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C0271E-587B-4E8D-AA7B-04B18E015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266950"/>
            <a:ext cx="2857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E6A095-637E-4E4C-83E7-2919AD127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266950"/>
            <a:ext cx="571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17283A-3A59-4C8A-AD9C-390C5EA68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4765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3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6736D"/>
                </a:solidFill>
                <a:latin typeface="Aptos"/>
                <a:ea typeface="Aptos"/>
                <a:cs typeface="Aptos"/>
              </a:rPr>
              <a:t>AI / чипы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B96C7E-3749-4F04-942E-C0356BE56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7622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18%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FCCA22-2782-4787-8EFA-DBFD3BF5B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2766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3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36D"/>
                </a:solidFill>
                <a:latin typeface="Aptos"/>
                <a:ea typeface="Aptos"/>
                <a:cs typeface="Aptos"/>
              </a:rPr>
              <a:t>AVGO + NVDA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EEAA4C-02BD-4ED3-8638-806222EF6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266950"/>
            <a:ext cx="3048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D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7299FA-1DED-4148-904B-9BFBB6F9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266950"/>
            <a:ext cx="571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7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94FCFA-25FE-48CE-859A-7A16C39A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47650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3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6736D"/>
                </a:solidFill>
                <a:latin typeface="Aptos"/>
                <a:ea typeface="Aptos"/>
                <a:cs typeface="Aptos"/>
              </a:rPr>
              <a:t>Защитные бизнесы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650A55-0335-4513-8F62-B5DFCA0D4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762250"/>
            <a:ext cx="266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35%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8E46FA-CBDC-4765-B349-1A47CC3EB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2766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3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36D"/>
                </a:solidFill>
                <a:latin typeface="Aptos"/>
                <a:ea typeface="Aptos"/>
                <a:cs typeface="Aptos"/>
              </a:rPr>
              <a:t>BRK.B, COST, JNJ, PG, KO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84375B-1820-4738-8964-C4DB51E1C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095750"/>
            <a:ext cx="3238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D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11C41E-68A2-4D7C-A94D-4CF27D70D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095750"/>
            <a:ext cx="571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B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C7DB84-1AB6-4432-AEA9-0DCE39A01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30530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3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6736D"/>
                </a:solidFill>
                <a:latin typeface="Aptos"/>
                <a:ea typeface="Aptos"/>
                <a:cs typeface="Aptos"/>
              </a:rPr>
              <a:t>Финансы + энергия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DD8871-473E-4894-BC50-6AA92B077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591050"/>
            <a:ext cx="2857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15%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2F87D9-F380-4B63-AE8E-C4574BD65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1054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3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36D"/>
                </a:solidFill>
                <a:latin typeface="Aptos"/>
                <a:ea typeface="Aptos"/>
                <a:cs typeface="Aptos"/>
              </a:rPr>
              <a:t>Visa, JPM, Exxon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78A4DC-3769-4A84-9A1B-33CA1E004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095750"/>
            <a:ext cx="3238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D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D5E50A-4F51-4A96-980C-F24DB60CD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095750"/>
            <a:ext cx="571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6A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DF10AE-CB7C-44ED-826C-E8CEAE4FA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0530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3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6736D"/>
                </a:solidFill>
                <a:latin typeface="Aptos"/>
                <a:ea typeface="Aptos"/>
                <a:cs typeface="Aptos"/>
              </a:rPr>
              <a:t>Кэш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457AC1-87E9-4A64-8902-F9B90107F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91050"/>
            <a:ext cx="2857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0%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55FFF5-857B-4E55-9EAD-EE45C63F0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054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3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36D"/>
                </a:solidFill>
                <a:latin typeface="Aptos"/>
                <a:ea typeface="Aptos"/>
                <a:cs typeface="Aptos"/>
              </a:rPr>
              <a:t>риск снижает не кэш, а подбор весов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74FDDC-B059-4B7A-9980-069A47D34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1500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36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6736D"/>
                </a:solidFill>
                <a:latin typeface="Aptos"/>
                <a:ea typeface="Aptos"/>
                <a:cs typeface="Aptos"/>
              </a:rPr>
              <a:t>Ключевая идея: держать доходность выше 10% не через экстремальную ставку на один актив, а через комбинацию нескольких драйверов.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FEEE8C-86C9-4FF7-A313-1ADF24795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A073657-74A1-4FD3-8F7D-B554DF561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04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D"/>
                </a:solidFill>
                <a:latin typeface="Aptos"/>
                <a:ea typeface="Aptos"/>
                <a:cs typeface="Aptos"/>
              </a:rPr>
              <a:t>Новый портфель: модельные ожидания доходности и риска за 3 месяца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4C8316-79CA-4FB2-A1D3-AB3A90BAF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29375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3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36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102193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68A8F7-195D-4CFF-88DE-3BC76D7C0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4-marker">
            <a:extLst xmlns:a="http://schemas.openxmlformats.org/drawingml/2006/main">
              <a:ext uri="{FF2B5EF4-FFF2-40B4-BE49-F238E27FC236}">
                <a16:creationId xmlns:a16="http://schemas.microsoft.com/office/drawing/2014/main" id="{EDA62564-F0FC-4659-B99B-4F1B72583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4-label">
            <a:extLst xmlns:a="http://schemas.openxmlformats.org/drawingml/2006/main">
              <a:ext uri="{FF2B5EF4-FFF2-40B4-BE49-F238E27FC236}">
                <a16:creationId xmlns:a16="http://schemas.microsoft.com/office/drawing/2014/main" id="{BDABCD96-E955-4DBF-9957-B9545FCA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3375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ВКЛАД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B20658-BF28-4171-A0D0-0E998A7E3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715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11D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7211D"/>
                </a:solidFill>
                <a:latin typeface="Aptos Display"/>
                <a:ea typeface="Aptos Display"/>
                <a:cs typeface="Aptos Display"/>
              </a:rPr>
              <a:t>Доходность дают 4 лидера, а риск распределён между несколькими блоками.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D44BD0-266B-464C-8531-3078EA086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Вклад в доходность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4406C7-AF5A-40A8-A6A7-F2DEC1861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574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Microsoft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CC71AE-9EF9-4B44-AB32-20A564C58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51460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D1BD01-50FD-4752-BC0A-13CC9D0D7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514600"/>
            <a:ext cx="2431473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48D221-6DB9-41B7-AB10-E3ABF950B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574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2.16 п.п.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46DEF8-BEA0-48BA-8C78-D72458D53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146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Alphabet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C03511-5CB4-434D-8967-7FE94466A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97180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3DC7FF-CFBB-474D-BADC-8F5A93EB3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971800"/>
            <a:ext cx="2048741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DCD3BE-A973-41FD-899F-AD449EE5B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146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1.82 п.п.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546046-6089-40D3-B69D-CCD8E29E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Broadcom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231A41-1D65-43D6-B80C-C8009C24A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42900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9DFF77-53DA-4A73-965D-F133DDAA3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429000"/>
            <a:ext cx="1688523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D9DFDA-4E80-4C95-9967-62ABEF86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718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1.50 п.п.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5C45AA-E3CF-4E6B-9C09-0BB10D848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NVIDIA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DFE863-EF9D-4CF2-8628-C0F7D8FD6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8620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F613BD-5C02-4DFB-A8F1-7C28E477D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86200"/>
            <a:ext cx="1620982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737D60-982D-4641-A262-DC91C7527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290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1.44 п.п.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8878B7-1FB8-436D-8E1E-9F447D1EA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Visa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31E9E4-7AFA-4C23-BEB9-F76AE7EC0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34340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987D73-4C10-4BAA-99B4-772802CA2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343400"/>
            <a:ext cx="1013114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B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4FC6A7-7ECF-41DB-9D11-0B002990E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862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0.90 п.п.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242002-5F4A-4DC4-9063-F36C509B8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434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Costco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8C8604-6982-4AEC-9E59-83856F0C5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80060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5AAE0D-0303-4102-9FB9-ADF77B9D6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800600"/>
            <a:ext cx="810491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7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DFEBC2F-22BA-420E-BAC2-BA9FB1787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7434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0.72 п.п.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E12826-6905-43D0-916C-F70C90A5E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98120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Вклад в риск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3C8300-58A6-488B-AF8E-CE3BDB788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4574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Microsoft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AE7495-AB16-42AA-8AD0-1619AE18C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51460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23501D3-58D9-4B3C-A887-26D885B8F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514600"/>
            <a:ext cx="2459421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9EB3CF5-C892-49E9-A6D4-5AAA409D4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4574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2.88 п.п.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608C1AC-7C8D-47AC-B312-52DD303D0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9146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Alphabet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C115621-11FA-4F02-8047-F0A8E3FC7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97180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D49E859-DB52-4B10-BE05-61DC7CD09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971800"/>
            <a:ext cx="2151993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B8B0EFA-00BE-402A-A79E-22AC9C5CC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9146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2.52 п.п.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D03B39B-4A1D-4E83-BDD5-49009FF15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3718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Broadcom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20660DE-0077-4D70-86D3-1D2C107C6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42900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D18BD0B-6F78-4D13-B62C-2B49622D3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429000"/>
            <a:ext cx="2049517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9E79AE3-7932-49B2-BCCE-D36489AF2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3718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2.40 п.п.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29D78D1-3465-4F5D-93C1-726938787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8290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NVIDIA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B78F8C7-5CCD-4125-BDA3-C5B85ECF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88620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3DF5BB8-3D15-4376-9E77-43164176E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886200"/>
            <a:ext cx="2049517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9368244-9C22-48F3-B9C0-2D2EBF54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8290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2.40 п.п.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55F0199-A16F-44AD-98A2-4D7AF7EA6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2862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Visa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0FD8E64-3A07-453B-B2CC-D86DF5804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34340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14AAD86-6665-4793-8B49-8B6E5ECF7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343400"/>
            <a:ext cx="1024759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B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F6FCBAE-EEC5-4A60-8D34-190D34E53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42862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1.20 п.п.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356C2AA-CD94-4FF4-9FCC-8BBB25DCA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7434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Costco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982B4C1-A08E-422A-BA2F-8C833BF90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80060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15C242B-0655-461B-8B4E-D385D96F1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800600"/>
            <a:ext cx="768569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7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F1AF0DE-2F24-43BE-9C08-C83CDF627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47434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0.90 п.п.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BB6B385-396D-40F6-B7EF-0C2172BF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19750"/>
            <a:ext cx="933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36D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6736D"/>
                </a:solidFill>
                <a:latin typeface="Aptos"/>
                <a:ea typeface="Aptos"/>
                <a:cs typeface="Aptos"/>
              </a:rPr>
              <a:t>NVDA уже не самая большая позиция: она важна для доходности, но её доля ограничена ради общего риска.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DFB7A94-C7F0-49F3-B72F-95F72589E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166A70E-1BE1-4D63-AD06-B54B8D20F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04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D"/>
                </a:solidFill>
                <a:latin typeface="Aptos"/>
                <a:ea typeface="Aptos"/>
                <a:cs typeface="Aptos"/>
              </a:rPr>
              <a:t>Новый портфель: модельные ожидания доходности и риска за 3 месяца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7BE8AF0-E4EA-4A98-AB3D-8E034D0C2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29375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3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36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0443406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2FD83A-02BF-4899-A6EB-D1BF2FEA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5-marker">
            <a:extLst xmlns:a="http://schemas.openxmlformats.org/drawingml/2006/main">
              <a:ext uri="{FF2B5EF4-FFF2-40B4-BE49-F238E27FC236}">
                <a16:creationId xmlns:a16="http://schemas.microsoft.com/office/drawing/2014/main" id="{EF5307AA-8CE0-41C1-8E1A-39F8E0EB8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5-label">
            <a:extLst xmlns:a="http://schemas.openxmlformats.org/drawingml/2006/main">
              <a:ext uri="{FF2B5EF4-FFF2-40B4-BE49-F238E27FC236}">
                <a16:creationId xmlns:a16="http://schemas.microsoft.com/office/drawing/2014/main" id="{39A0497A-4BC7-4621-AC9D-6CA8002F7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3375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РИСК / ДОХОДНОСТЬ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84C404-B413-4B2E-8ACD-D2DA33736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715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11D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7211D"/>
                </a:solidFill>
                <a:latin typeface="Aptos Display"/>
                <a:ea typeface="Aptos Display"/>
                <a:cs typeface="Aptos Display"/>
              </a:rPr>
              <a:t>Лидеры роста выше на графике, защитные активы держат портфель внизу по риску.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0DA16A-35EF-4D2E-9219-6A1CAE20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76450"/>
            <a:ext cx="885825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1"/>
          </a:solidFill>
          <a:ln xmlns:a="http://schemas.openxmlformats.org/drawingml/2006/main" w="9525">
            <a:solidFill>
              <a:srgbClr val="DDE5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8F84E0-BFD5-426D-9B27-3B2DD384A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67350"/>
            <a:ext cx="885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C7DA2B-7522-4A1A-88CE-A1BEE6698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76450"/>
            <a:ext cx="1905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0BD3F3-731E-4CA3-9770-28D2CD0E6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8102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36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36D"/>
                </a:solidFill>
                <a:latin typeface="Aptos"/>
                <a:ea typeface="Aptos"/>
                <a:cs typeface="Aptos"/>
              </a:rPr>
              <a:t>Риск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B8D6AA-1F2C-43C4-B050-FD85D0F38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5242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36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36D"/>
                </a:solidFill>
                <a:latin typeface="Aptos"/>
                <a:ea typeface="Aptos"/>
                <a:cs typeface="Aptos"/>
              </a:rPr>
              <a:t>Доходность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F1B697-27C0-4E95-97B3-5927DEB0C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34671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7A8F41-0C12-4A07-9F9A-EB18A0765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8356" y="3305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799742-8B9D-4389-BFEF-A947BC424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9813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4659B2-57A8-442A-AB5E-0598F6430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39528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B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5921D4-AF6F-485A-B6DF-E7B4549B4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5231" y="4114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7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2D8EB3-FE08-4A2C-8633-78EE3903B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3044" y="24955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7D3FCE-A4CA-44DF-A108-2320E3155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4386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7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87E01A-3550-415E-9A8E-B2CE0E172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600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B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37AD26-7B25-4AAD-9BBD-C16BC170F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1559" y="4600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7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9E588C-E96D-4167-90D0-98117C440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1559" y="4600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7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F773FA-EF13-43C9-9268-E23033AB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4114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B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759C1F-98C1-46BE-97DF-4B438AFEB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794" y="44386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16A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4D6B0D-6FF1-48A4-8B3E-6E04642BE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438525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Microsoft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44565F-BE9E-4465-B430-547440F96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9331" y="32766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Alphabet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1E578A-78ED-4B40-95BC-736045CB7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9527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5F9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15F9F"/>
                </a:solidFill>
                <a:latin typeface="Aptos"/>
                <a:ea typeface="Aptos"/>
                <a:cs typeface="Aptos"/>
              </a:rPr>
              <a:t>Broadcom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F4D6FF-3A35-49EC-98E2-A229094A2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4019" y="2466975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5F9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15F9F"/>
                </a:solidFill>
                <a:latin typeface="Aptos"/>
                <a:ea typeface="Aptos"/>
                <a:cs typeface="Aptos"/>
              </a:rPr>
              <a:t>NVIDIA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AD4A41-CAD5-4E48-AE33-FE896F04F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1988" y="39243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B7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47B78"/>
                </a:solidFill>
                <a:latin typeface="Aptos"/>
                <a:ea typeface="Aptos"/>
                <a:cs typeface="Aptos"/>
              </a:rPr>
              <a:t>Visa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A513C4-DA47-4DEA-823A-AD4952457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410075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C744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C7444"/>
                </a:solidFill>
                <a:latin typeface="Aptos"/>
                <a:ea typeface="Aptos"/>
                <a:cs typeface="Aptos"/>
              </a:rPr>
              <a:t>Berkshire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452C9D-C4C6-41F8-A040-012B3600C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FBA26D-79ED-4B51-8979-96E83E3FE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04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D"/>
                </a:solidFill>
                <a:latin typeface="Aptos"/>
                <a:ea typeface="Aptos"/>
                <a:cs typeface="Aptos"/>
              </a:rPr>
              <a:t>Новый портфель: модельные ожидания доходности и риска за 3 месяца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2F30A5-E890-4968-941D-0A1EFFA1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29375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3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36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9719533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4CFE87-3914-4D4A-82CF-A7E0367F8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6-marker">
            <a:extLst xmlns:a="http://schemas.openxmlformats.org/drawingml/2006/main">
              <a:ext uri="{FF2B5EF4-FFF2-40B4-BE49-F238E27FC236}">
                <a16:creationId xmlns:a16="http://schemas.microsoft.com/office/drawing/2014/main" id="{60147DE8-534B-463F-A127-012471FC5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6-label">
            <a:extLst xmlns:a="http://schemas.openxmlformats.org/drawingml/2006/main">
              <a:ext uri="{FF2B5EF4-FFF2-40B4-BE49-F238E27FC236}">
                <a16:creationId xmlns:a16="http://schemas.microsoft.com/office/drawing/2014/main" id="{661AD9B5-6657-4636-A280-1A6F9FC67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3375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7A4D"/>
                </a:solidFill>
                <a:latin typeface="Aptos"/>
                <a:ea typeface="Aptos"/>
                <a:cs typeface="Aptos"/>
              </a:rPr>
              <a:t>ВЫВОД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C7FA74-F611-43C8-A36D-B712860BB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9334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11D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17211D"/>
                </a:solidFill>
                <a:latin typeface="Aptos Display"/>
                <a:ea typeface="Aptos Display"/>
                <a:cs typeface="Aptos Display"/>
              </a:rPr>
              <a:t>Новый портфель достигает цели не кэшем, а грамотным подбором весов.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26FFF2-A48B-43FF-B112-8C3160491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4AB4C7-76ED-4ABA-BEC9-367696BE9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05100"/>
            <a:ext cx="647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5E2D10-5304-47EA-B05C-CB3469FC2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0985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Доходность выше 10%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2BBB27-CEF5-4B18-97D5-F636969AC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990850"/>
            <a:ext cx="7905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36D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6736D"/>
                </a:solidFill>
                <a:latin typeface="Aptos"/>
                <a:ea typeface="Aptos"/>
                <a:cs typeface="Aptos"/>
              </a:rPr>
              <a:t>Рост распределён между MSFT, GOOGL, AVGO и NVDA.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AD8217-6752-4E60-8E4C-D8BBBD254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2A5206-C699-474E-B6D4-375DA0B6B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52850"/>
            <a:ext cx="647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F51274-462C-4267-9A64-1C28274D3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6576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Риск около 15%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F37579-6083-470F-9D4D-C54BF8AC8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038600"/>
            <a:ext cx="7905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36D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6736D"/>
                </a:solidFill>
                <a:latin typeface="Aptos"/>
                <a:ea typeface="Aptos"/>
                <a:cs typeface="Aptos"/>
              </a:rPr>
              <a:t>Доля самых волатильных активов ограничена.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3B7671-7209-4216-B8FA-3D380228F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16A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4C3CB0-C10F-4D09-96C1-924DB8BB3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00600"/>
            <a:ext cx="647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AB6B84-EB2C-485A-AC9F-25CF6CCBF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0535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11D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7211D"/>
                </a:solidFill>
                <a:latin typeface="Aptos"/>
                <a:ea typeface="Aptos"/>
                <a:cs typeface="Aptos"/>
              </a:rPr>
              <a:t>Учебный смысл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2496B2-5168-49D1-A0F0-594E408EF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86350"/>
            <a:ext cx="7905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36D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6736D"/>
                </a:solidFill>
                <a:latin typeface="Aptos"/>
                <a:ea typeface="Aptos"/>
                <a:cs typeface="Aptos"/>
              </a:rPr>
              <a:t>Оптимизация — это не угадывание победителя, а настройка баланса.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5B6B76-7F55-459C-8D24-50243E1E5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66950"/>
            <a:ext cx="2000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EF71E1-991B-4C1F-AA09-8E0F56CBA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4384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Вопрос группе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62255A-8E4F-40A8-8786-290CE0159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724150"/>
            <a:ext cx="1409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DE5D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DE5DE"/>
                </a:solidFill>
                <a:latin typeface="Aptos"/>
                <a:ea typeface="Aptos"/>
                <a:cs typeface="Aptos"/>
              </a:rPr>
              <a:t>Что убрать первым, если рынок станет нервнее?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D99D15-7BFA-4439-AAB3-F6AB88E4A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0AFAED-B5A6-4602-B641-75DF25E76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04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D"/>
                </a:solidFill>
                <a:latin typeface="Aptos"/>
                <a:ea typeface="Aptos"/>
                <a:cs typeface="Aptos"/>
              </a:rPr>
              <a:t>Новый портфель: модельные ожидания доходности и риска за 3 месяца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15D898-293A-43A5-9D71-7293BC196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29375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3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36D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229864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2026-05-13T10:39:10.4550000Z</dcterms:created>
  <dcterms:modified xsi:type="dcterms:W3CDTF">2026-05-13T10:39:10.4550000Z</dcterms:modified>
</coreProperties>
</file>