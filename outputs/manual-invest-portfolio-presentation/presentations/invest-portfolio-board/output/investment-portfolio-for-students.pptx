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d34f95657b4300" /><Relationship Type="http://schemas.openxmlformats.org/officeDocument/2006/relationships/extended-properties" Target="/docProps/app.xml" Id="R03ee413d057d403a" /><Relationship Type="http://schemas.openxmlformats.org/officeDocument/2006/relationships/officeDocument" Target="/ppt/presentation.xml" Id="R5891109864d846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f99afcf6d044be"/>
  </p:sldMasterIdLst>
  <p:notesMasterIdLst>
    <p:notesMasterId xmlns:r="http://schemas.openxmlformats.org/officeDocument/2006/relationships" r:id="R6c9e0a5559474270"/>
  </p:notesMasterIdLst>
  <p:sldIdLst>
    <p:sldId xmlns:r="http://schemas.openxmlformats.org/officeDocument/2006/relationships" id="256" r:id="R24a7b044d4d94c45"/>
    <p:sldId xmlns:r="http://schemas.openxmlformats.org/officeDocument/2006/relationships" id="257" r:id="Rc6e79ad53a2f4caa"/>
    <p:sldId xmlns:r="http://schemas.openxmlformats.org/officeDocument/2006/relationships" id="258" r:id="R3fb0830ea2504c6d"/>
    <p:sldId xmlns:r="http://schemas.openxmlformats.org/officeDocument/2006/relationships" id="259" r:id="Rc3371650f0b54131"/>
    <p:sldId xmlns:r="http://schemas.openxmlformats.org/officeDocument/2006/relationships" id="260" r:id="R39f30fc179624525"/>
    <p:sldId xmlns:r="http://schemas.openxmlformats.org/officeDocument/2006/relationships" id="261" r:id="Re5b7d341ca794c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f99afcf6d044be" /><Relationship Type="http://schemas.openxmlformats.org/officeDocument/2006/relationships/theme" Target="/ppt/theme/theme1.xml" Id="R11b27d1753cf422c" /><Relationship Type="http://schemas.openxmlformats.org/officeDocument/2006/relationships/notesMaster" Target="/ppt/notesMasters/notesMaster1.xml" Id="R6c9e0a5559474270" /><Relationship Type="http://schemas.openxmlformats.org/officeDocument/2006/relationships/presProps" Target="/ppt/presProps.xml" Id="R40d365aeffc84d61" /><Relationship Type="http://schemas.openxmlformats.org/officeDocument/2006/relationships/viewProps" Target="/ppt/viewProps.xml" Id="Rb2de3a7ed9724d5b" /><Relationship Type="http://schemas.openxmlformats.org/officeDocument/2006/relationships/tableStyles" Target="/ppt/tableStyles.xml" Id="R9c1158b79c9d4c4c" /><Relationship Type="http://schemas.openxmlformats.org/officeDocument/2006/relationships/slide" Target="/ppt/slides/slide1.xml" Id="R24a7b044d4d94c45" /><Relationship Type="http://schemas.openxmlformats.org/officeDocument/2006/relationships/slide" Target="/ppt/slides/slide2.xml" Id="Rc6e79ad53a2f4caa" /><Relationship Type="http://schemas.openxmlformats.org/officeDocument/2006/relationships/slide" Target="/ppt/slides/slide3.xml" Id="R3fb0830ea2504c6d" /><Relationship Type="http://schemas.openxmlformats.org/officeDocument/2006/relationships/slide" Target="/ppt/slides/slide4.xml" Id="Rc3371650f0b54131" /><Relationship Type="http://schemas.openxmlformats.org/officeDocument/2006/relationships/slide" Target="/ppt/slides/slide5.xml" Id="R39f30fc179624525" /><Relationship Type="http://schemas.openxmlformats.org/officeDocument/2006/relationships/slide" Target="/ppt/slides/slide6.xml" Id="Re5b7d341ca794c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7de9d219eb441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cef424215147d3" /><Relationship Type="http://schemas.openxmlformats.org/officeDocument/2006/relationships/notesMaster" Target="/ppt/notesMasters/notesMaster1.xml" Id="R85ffe55c715b41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1b0e7e9dd64285" /><Relationship Type="http://schemas.openxmlformats.org/officeDocument/2006/relationships/notesMaster" Target="/ppt/notesMasters/notesMaster1.xml" Id="R3880b84736f943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46e248721641a1" /><Relationship Type="http://schemas.openxmlformats.org/officeDocument/2006/relationships/notesMaster" Target="/ppt/notesMasters/notesMaster1.xml" Id="R1fee3f92756e4f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71afdab9a0467c" /><Relationship Type="http://schemas.openxmlformats.org/officeDocument/2006/relationships/notesMaster" Target="/ppt/notesMasters/notesMaster1.xml" Id="R1903c4cc87fb45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c6c6882a1e4de8" /><Relationship Type="http://schemas.openxmlformats.org/officeDocument/2006/relationships/notesMaster" Target="/ppt/notesMasters/notesMaster1.xml" Id="R3eecd40c49044f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f5c27260b245b5" /><Relationship Type="http://schemas.openxmlformats.org/officeDocument/2006/relationships/notesMaster" Target="/ppt/notesMasters/notesMaster1.xml" Id="Rbf1ba61b2b9b42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818d9fddf48e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d81b5b88e93444a" /><Relationship Type="http://schemas.openxmlformats.org/officeDocument/2006/relationships/slideLayout" Target="/ppt/slideLayouts/slideLayout2.xml" Id="Rf9d4564657064b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d4564657064b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a8c4017d054aa4" /><Relationship Type="http://schemas.openxmlformats.org/officeDocument/2006/relationships/notesSlide" Target="/ppt/notesSlides/notesSlide1.xml" Id="R818495247ae040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67ecc070cf4331" /><Relationship Type="http://schemas.openxmlformats.org/officeDocument/2006/relationships/notesSlide" Target="/ppt/notesSlides/notesSlide2.xml" Id="R61ede6b0b4114b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34688af9af4f2c" /><Relationship Type="http://schemas.openxmlformats.org/officeDocument/2006/relationships/notesSlide" Target="/ppt/notesSlides/notesSlide3.xml" Id="R5d4a4584d62940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8641548b2c40c1" /><Relationship Type="http://schemas.openxmlformats.org/officeDocument/2006/relationships/notesSlide" Target="/ppt/notesSlides/notesSlide4.xml" Id="R22275b19d42446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75eae084124836" /><Relationship Type="http://schemas.openxmlformats.org/officeDocument/2006/relationships/notesSlide" Target="/ppt/notesSlides/notesSlide5.xml" Id="R481831e58aef43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a6acca84614f97" /><Relationship Type="http://schemas.openxmlformats.org/officeDocument/2006/relationships/notesSlide" Target="/ppt/notesSlides/notesSlide6.xml" Id="Rb6c9caf91921492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6E22A-785B-4A9F-B651-0BB477BE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D93D0E20-546D-4C43-91F7-7F5F8392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BFB9F4C7-F250-48C1-8464-87879B10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УЧЕБНЫЙ РАЗБОР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F8599-D7CD-4FAF-9BC8-27A5C9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Инвестиционный</a:t>
            </a:r>
          </a:p>
          <a:p xmlns:a="http://schemas.openxmlformats.org/drawingml/2006/main">
            <a:pPr algn="l">
              <a:defRPr sz="46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портфель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181A2-519E-4B65-848A-703C0EFF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Как портфель стал менее рискованным и какой ценой получена доходность 10%.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6E2A2-58BE-4D11-A544-4D78F75C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19230-9EED-4502-9FB8-89D50530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DACC7-C58C-44C6-BFD6-78A74B05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36D"/>
                </a:solidFill>
                <a:latin typeface="Aptos"/>
                <a:ea typeface="Aptos"/>
                <a:cs typeface="Aptos"/>
              </a:rPr>
              <a:t>Стоимость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D44C6-CC3F-4E9C-AD1C-BCC3EABD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10 млн 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081FE-BF8B-44B4-A68C-8ACC089C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общий капитал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D03F9-EAC3-4BD8-A56D-3A0B0435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767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28D79-14A6-465A-ACBD-FD343D8D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767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1CEA6-E98E-4B6F-8E09-D3E50496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36D"/>
                </a:solidFill>
                <a:latin typeface="Aptos"/>
                <a:ea typeface="Aptos"/>
                <a:cs typeface="Aptos"/>
              </a:rPr>
              <a:t>Доходность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08A2B-EE06-404B-8CBC-BBBAB858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7200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10,00%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504DC-6222-4B7B-BF75-DB1293A0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863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ожидаемо за 3 мес.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7B806-81E8-457B-BB61-1E1DAB7B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767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EC75E-EBEB-44F5-8629-722AA82B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767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448EF-4F84-4E08-9675-BFD2E841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36D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F9ADC0-FD8D-4CB9-A53D-8E61A84F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7200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19,33%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0E3B16-190E-42CE-9D05-C4601D71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863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ниже исходного 23,82%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752973-3F13-423B-97C1-EA5683F2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04900"/>
            <a:ext cx="2476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2D7B22-4DCC-4E8F-9E49-7B675941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287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Главная идея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48AF6-81B1-4B18-9E44-7B52BCD7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62150"/>
            <a:ext cx="1714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Портфель — это баланс между доходностью, риском и ликвидным резервом.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29B213-AF35-41C1-9EA1-51CD0239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5D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5DE"/>
                </a:solidFill>
                <a:latin typeface="Aptos"/>
                <a:ea typeface="Aptos"/>
                <a:cs typeface="Aptos"/>
              </a:rPr>
              <a:t>Смотрим не на один актив, а на вклад каждой позиции.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E548A7-B3D8-4EF4-A342-8B8C3EDA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E3760-2F44-4072-9A3B-DF3A4405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Источник: файл «готовый инвест портфель.xlsx», листы Portfolio / Optimization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7D8C98-93EF-4E79-91ED-CB5231B6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46258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7B81EE-4EE8-41D2-98C2-D4226588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371B27CB-800C-46CD-B54A-805747B2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50741E8C-22F2-4E30-B865-F467AC74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ДО И ПОСЛЕ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1F687-5D6B-4C70-AAF8-5FF5164B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14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Риск снизился, но доходность удержали на учебно понятном уровне.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7D0C2-4958-4BC6-814E-AF3F188C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AF6EF-824A-4C0F-9D4B-B39D6A91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FEB77-DB11-49AD-926B-81888840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36D"/>
                </a:solidFill>
                <a:latin typeface="Aptos"/>
                <a:ea typeface="Aptos"/>
                <a:cs typeface="Aptos"/>
              </a:rPr>
              <a:t>Исходный риск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EDB34-96B7-4C4F-B545-60480BCC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2266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23,82%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4061A-4A99-4F35-B622-6AECF2C0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до оптимизации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B8975-0E7A-4F5C-9A81-C835F698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E3D64-72B0-4E64-B79A-C414A9C7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B934D-963D-42E6-9612-9184523B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0505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36D"/>
                </a:solidFill>
                <a:latin typeface="Aptos"/>
                <a:ea typeface="Aptos"/>
                <a:cs typeface="Aptos"/>
              </a:rPr>
              <a:t>Новый риск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6B8E6-8298-4CF6-9518-8284B538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90800"/>
            <a:ext cx="2266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19,33%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3FAE2-7300-4717-B9EF-55DB7E6C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051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после изменения весов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D3FAD-0D50-4D21-92E2-4EFF15E6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0D7F6-AE4D-41B9-8D75-24A80684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F210FD-C25A-4720-9C84-25E3A6BB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0505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36D"/>
                </a:solidFill>
                <a:latin typeface="Aptos"/>
                <a:ea typeface="Aptos"/>
                <a:cs typeface="Aptos"/>
              </a:rPr>
              <a:t>Ожидаемая доходность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257D48-431B-4DF4-9B3F-286D5D0F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90800"/>
            <a:ext cx="2266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10,00%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D5440-11BB-4618-8BA0-3C57414A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051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цель новой версии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76F00-1BD6-45A1-8416-72A18BC4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790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305062-CA70-4573-A223-E5DF51A9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6429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A1ED2-97AF-40F6-A598-4CE4BEAB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Снижение риска примерно на 4,49 п.п.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00B91D-8125-4B33-9EDB-3D89ED40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05400"/>
            <a:ext cx="809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Компромисс: высокая доля кэша снижает общий риск, а NVDA/MSFT удерживают доходность.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EABDC-916F-452B-885C-19D9DFC8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46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463B"/>
                </a:solidFill>
                <a:latin typeface="Aptos"/>
                <a:ea typeface="Aptos"/>
                <a:cs typeface="Aptos"/>
              </a:rPr>
              <a:t>23,82%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EB0481-8738-4AF4-AB10-CA7262EC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386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19,33%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947D81-79A0-463E-AB0F-8F1D31B3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45506B-AA9B-4912-9FDC-120ABA31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Источник: файл «готовый инвест портфель.xlsx», листы Portfolio / Optimization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2CC11D-CA98-4F8F-A728-47005D47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82608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090C87-4275-4678-A1C9-640D1D94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74160CEA-DDAF-4F07-B301-505B2F71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AE1D863F-F32A-4BF9-A8D5-1EBF9E22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СТРУКТУРА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93863-88BA-4712-A548-5F3C7E0F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14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Новый портфель держится на двух столбах: технологии и резерв.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E2C50-5E5A-48D1-B5B4-7CD61191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Технологии США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87BA5-1A01-40BE-8756-0F3AF5C6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288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81F0B-3B86-4D79-AA3E-24A2DC5E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28850"/>
            <a:ext cx="506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84A4F-3546-4C7A-B565-82B60D90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1812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57%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21C4C-24CD-463B-A1B6-DE4A13CF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Резерв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D9ADA-A30E-4CCE-B0AF-B6993844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622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823A0-665B-4D8C-8B87-BC566D1E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62250"/>
            <a:ext cx="311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68507-303A-4A53-8654-73D5DF75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7146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AB7C0-592D-4CAD-9D69-74FA76CB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Нефть и энергия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8E454-CF39-4207-B4A7-24856FFA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956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E64E8-9857-4F3B-A249-15D37E46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95650"/>
            <a:ext cx="177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E1F68-18C9-45DC-B10F-01949ADE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480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5245D-0A9D-436D-9401-6861C86C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Российские акции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CBBD6A-74B6-4514-9222-1ACC9633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290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41934-E2FD-4920-94B0-0EFD1DFF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290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25189E-8699-4C82-B5F0-48FBCF83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814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BD5FF-068A-40B8-9581-2E20FAC1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Защитные активы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1EAC78-9C12-4BB5-9CEC-2C0F49B9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624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1CEC4-4EB4-4081-9C6A-0B242834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62450"/>
            <a:ext cx="88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1B5C99-7E67-45A2-85DD-4AF78FC2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3148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BD8634-7B33-4002-9801-4722D321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Криптовалюта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EEEF81-6DDA-4324-A699-F1392088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958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EB7CD2-ED5D-40B5-976D-1CF94F53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95850"/>
            <a:ext cx="177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01627D-833A-4915-A059-8FDC2F6D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8482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D2EA1E-1D74-4F64-97FD-5FA87B5C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09800"/>
            <a:ext cx="2571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C190F5-49BE-419F-920B-A313B5EA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70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57%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4B3D8A-A1B8-4B03-AEB5-0AC51FA9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в технологиях США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481F4B-E54B-4010-868B-F409C708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243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C744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6C7444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6EB861-FB7A-4737-B83A-6E2CD5B4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386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в кэше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63A542-BF7E-43ED-AB7D-61A91783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Вопрос студентам: почему кэш может быть частью стратегии, а не «деньгами без работы»?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9AC7BD-DF7B-47A4-A4E0-EF00E6DF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C7AF66-6CAF-4D7E-A8BA-EAC06E16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Источник: файл «готовый инвест портфель.xlsx», листы Portfolio / Optimization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EE05DD-05D9-4AA5-896E-4677E871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45167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C13202-0C47-4352-B93B-253C9EFB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275867EC-899B-4901-91C8-1CABEFEC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7BF0D75A-8E9D-425A-A12F-5A75D041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АКТИВЫ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3D68A-0B74-4986-8432-58802DE1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14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Доходность делают лидеры роста, риск гасят маленькие доли и кэш.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0A82E-1EC6-4FC2-9DFA-E5C44B0C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9525">
            <a:solidFill>
              <a:srgbClr val="1721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D6243-BBBA-4EC9-916D-94281204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Актив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FF6B6-2041-458F-B6E9-16A76D10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38375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Доля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F5331-E99C-4262-B747-733511AC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Доходность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D579A-EACD-4830-B9B2-4AD8C336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10EFD-4102-4C0D-8308-D035883F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Роль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F2EE7-B4CB-4FCD-A75C-0A6BF654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1009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087D1-CDFB-4977-8DF8-A0BE5FB2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813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NVIDIA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65267-9056-4239-ACC2-2502EB97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813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33%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0535A-4A84-4EAC-916C-2A2F712F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81325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00C93-00FB-4531-AAB1-35E716B8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813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C2EC5-E2EB-4569-BAA8-B793A223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813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главный драйвер доходности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13DEC-22FA-4275-90C9-9521254D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009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98A0F-35ED-43A2-AF71-377E1D9C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242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Microsoft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70EFB-9DA2-4D4E-8E57-247AD54F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2427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23%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21242-ACA6-49ED-A30F-D3D41971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24275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3E4C5-8D50-4CBD-8FCF-7A9A1E8E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2427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0D5861-433A-4373-9F9E-5A87E319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242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стабильный технологический якорь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65C15-DFCC-4FBA-8245-E26CA3C1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09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50066-D7BD-4540-946A-8B390AD9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Кэш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BD5811-0589-4206-B1EA-C8E9D662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672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A2D3F3-9637-4B83-8E77-281D9C14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67225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419DBB-D495-4875-8B17-DE606DDC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672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1%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D45E75-31B7-48EB-877F-BD205996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672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снижает волатильность портфеля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F0A813-9638-4004-87D5-9A3D33EC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Остальные 9 позиций оставлены по 1%: они показывают диверсификацию, но не раздувают общий риск.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D2B38C-75F9-4348-9684-50B4FE1C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8AC942-DF55-433A-ABC1-79CCEB43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Источник: файл «готовый инвест портфель.xlsx», листы Portfolio / Optimization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D3573F-1BCF-45DF-87CE-3473B524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799046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A5B534-537E-42BD-8038-742B0DB8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592F30B7-1262-4216-8DE7-223497EE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202AA3C7-54A4-42F0-8B03-17B927E8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РИСК / ДОХОДНОСТЬ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4407F-4049-46A7-A128-6BECF7AB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09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Высокая доходность почти всегда приходит вместе с высокой волатильностью.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B53E0-34A2-424E-B808-9C234DC0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885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1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60A92-D9E5-4282-9A9B-50B5B84D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EB01F-3E5D-4610-9B5B-FA9AC08F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DE475-9627-4BC9-9D02-B153763A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B1F4C-15AE-4D9D-B482-8C1B7CDB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766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Доходность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C7116-E987-409D-A1F9-8088CD3C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767" y="2807677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C80E9-C2A4-441F-96EC-0F99CDEC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474" y="408988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641E9-0DF1-4B06-BD6E-C6D67364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02" y="473099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FA2C4-BFD7-4F30-ABDF-802A16DB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647" y="4474552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84942-7374-495B-B1B0-23C2AC67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905" y="434633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6E297-8B0A-4953-9FA0-89048BC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336" y="421811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E605E-B52D-478F-A053-030258D4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164" y="4474552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8686F-585F-45D3-BBB9-D6AB2E4C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198" y="2807677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6D124-ED87-4CDA-AB2D-FFF68619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043" y="460277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F552BE-5FC0-4362-9F34-C16ADEB7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060" y="216657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FD90E8-8312-4CB4-AD45-E9D7F256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491" y="242301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7CE13D-0B02-4966-8020-C3DE9D39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717" y="2788627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019A4-9EDE-47EA-97D7-2ED10774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217" y="2750527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NVIDIA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CEE826-9037-468A-AE0C-55816016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424" y="4070838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EED657-E024-40DF-9199-520F945C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924" y="4032738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F9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15F9F"/>
                </a:solidFill>
                <a:latin typeface="Aptos"/>
                <a:ea typeface="Aptos"/>
                <a:cs typeface="Aptos"/>
              </a:rPr>
              <a:t>Microsoft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580A52-4632-4E20-AD8B-A746634B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010" y="2147521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6C37B5-D58A-4870-A6FE-80706E66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510" y="2109421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46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6463B"/>
                </a:solidFill>
                <a:latin typeface="Aptos"/>
                <a:ea typeface="Aptos"/>
                <a:cs typeface="Aptos"/>
              </a:rPr>
              <a:t>Bitcoin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3C461F-E6F3-420A-8E20-80916CB6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441" y="240396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023DF9-CBCC-4666-8BE7-8CE9F0FC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941" y="2365863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46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6463B"/>
                </a:solidFill>
                <a:latin typeface="Aptos"/>
                <a:ea typeface="Aptos"/>
                <a:cs typeface="Aptos"/>
              </a:rPr>
              <a:t>Ethereum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2F5086-6174-4709-835F-3630A6ED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786" y="5353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7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382CED-F7EF-4ACF-A836-94FF8B57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6" y="53149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74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C7444"/>
                </a:solidFill>
                <a:latin typeface="Aptos"/>
                <a:ea typeface="Aptos"/>
                <a:cs typeface="Aptos"/>
              </a:rPr>
              <a:t>Кэш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81C149-8F5B-461A-984D-95BF1BD7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Учебный вывод: нельзя выбирать актив только по доходности. Важно смотреть, сколько риска он добавляет портфелю.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508A9C-BA45-4735-A1E3-FA0C6599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66598B-D31B-4CBD-ABB3-A3165D8E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Источник: файл «готовый инвест портфель.xlsx», листы Portfolio / Optimization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38938E-0579-46E7-8AF8-5216FD5E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370199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2370B6-D62C-44CE-8BDF-E632B8F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F762A963-10AE-4B87-A894-E89D35D8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2CCE58B0-91F7-4D92-B7D5-85AAB660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ФИНАЛЬНЫЙ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9C3C8-4D4F-44DF-B546-0621FDC1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8858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Оптимизация портфеля — это настройка весов, а не поиск «лучшей акции».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136F1-4C16-4502-B64E-7719DA5D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4BBE2-F72F-4D39-8CBB-99A6B6C7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6B243-679B-4755-A072-CCCA906F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9557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Доходность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8C87F-158B-42BC-BD00-277CCB8D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575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Новая версия держит целевой уровень 10%.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D9A23-D2D9-4EE6-B7B5-1087A72C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AB244-BCE5-4C64-A66E-E10CE993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9AFA9-012E-416D-9597-FBA12B0F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957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745E7-A997-4AE4-8482-13DB7384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576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Снижен с 23,82% до 19,33% за счёт кэша и малых долей рискованных активов.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7DF04-ADDC-46DA-99AE-C2D5C97E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353D9-9676-41FE-B123-30EB5C36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9EAA0-1B12-4E76-B702-11C54145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95825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Компромисс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6AAF1-13EB-4B1D-81E8-5EE31D2C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5777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Сильная концентрация в NVDA/MSFT требует дисциплины и регулярного пересмотра.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E6A1E7-2C6B-49CE-A01C-A1C7DAEB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10490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B6CD8-81B3-4AE8-9E8C-2AECEED5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57300"/>
            <a:ext cx="1190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Вопрос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99A28-28B0-4FE2-A231-1FE42E35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430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5D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5DE"/>
                </a:solidFill>
                <a:latin typeface="Aptos"/>
                <a:ea typeface="Aptos"/>
                <a:cs typeface="Aptos"/>
              </a:rPr>
              <a:t>Что изменить, если риск нужно снизить ещё сильнее?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C9D70-3624-4B4F-A225-7EC7AC48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4D658-EF4C-426B-AEAE-190934C3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Источник: файл «готовый инвест портфель.xlsx», листы Portfolio / Optimization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A86E0B-107A-4083-9936-3C23C1C1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0073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2026-05-13T10:05:37.2400000Z</dcterms:created>
  <dcterms:modified xsi:type="dcterms:W3CDTF">2026-05-13T10:05:37.2400000Z</dcterms:modified>
</coreProperties>
</file>